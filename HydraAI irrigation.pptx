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Arial" charset="1" panose="020B0604020202020204"/>
      <p:regular r:id="rId19"/>
    </p:embeddedFont>
    <p:embeddedFont>
      <p:font typeface="Calibri (MS)" charset="1" panose="020F0502020204030204"/>
      <p:regular r:id="rId20"/>
    </p:embeddedFont>
    <p:embeddedFont>
      <p:font typeface="Calibri (MS) Italics" charset="1" panose="020F05020202040A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5.jpe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22.jpe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2" id="12" descr="A person sitting at a desk with a computer  Description automatically generate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3012264" y="857250"/>
            <a:ext cx="3203734" cy="1504950"/>
          </a:xfrm>
          <a:custGeom>
            <a:avLst/>
            <a:gdLst/>
            <a:ahLst/>
            <a:cxnLst/>
            <a:rect r="r" b="b" t="t" l="l"/>
            <a:pathLst>
              <a:path h="1504950" w="3203734">
                <a:moveTo>
                  <a:pt x="0" y="0"/>
                </a:moveTo>
                <a:lnTo>
                  <a:pt x="3203734" y="0"/>
                </a:lnTo>
                <a:lnTo>
                  <a:pt x="3203734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14967" y="2948892"/>
            <a:ext cx="11371345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5400" spc="-1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HydraAI- AI Based Water Requirement Prediction System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592918" y="1301601"/>
            <a:ext cx="1894713" cy="616268"/>
            <a:chOff x="0" y="0"/>
            <a:chExt cx="2526284" cy="821690"/>
          </a:xfrm>
        </p:grpSpPr>
        <p:sp>
          <p:nvSpPr>
            <p:cNvPr name="Freeform 16" id="16" descr="A close up of a logo  Description automatically generated"/>
            <p:cNvSpPr/>
            <p:nvPr/>
          </p:nvSpPr>
          <p:spPr>
            <a:xfrm flipH="false" flipV="false" rot="0">
              <a:off x="0" y="0"/>
              <a:ext cx="2526284" cy="821690"/>
            </a:xfrm>
            <a:custGeom>
              <a:avLst/>
              <a:gdLst/>
              <a:ahLst/>
              <a:cxnLst/>
              <a:rect r="r" b="b" t="t" l="l"/>
              <a:pathLst>
                <a:path h="821690" w="2526284">
                  <a:moveTo>
                    <a:pt x="0" y="0"/>
                  </a:moveTo>
                  <a:lnTo>
                    <a:pt x="2526284" y="0"/>
                  </a:lnTo>
                  <a:lnTo>
                    <a:pt x="2526284" y="821690"/>
                  </a:lnTo>
                  <a:lnTo>
                    <a:pt x="0" y="821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08" r="0" b="-20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231828" y="5250075"/>
            <a:ext cx="9337634" cy="395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Lead – Om Deshmukh</a:t>
            </a:r>
          </a:p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Member 1 - Karan Vasani</a:t>
            </a:r>
          </a:p>
          <a:p>
            <a:pPr algn="l">
              <a:lnSpc>
                <a:spcPts val="3329"/>
              </a:lnSpc>
            </a:pPr>
            <a:r>
              <a:rPr lang="en-US" sz="27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Member 2 - Akanksha Patil</a:t>
            </a:r>
          </a:p>
          <a:p>
            <a:pPr algn="l">
              <a:lnSpc>
                <a:spcPts val="3329"/>
              </a:lnSpc>
            </a:pPr>
            <a:r>
              <a:rPr lang="en-US" sz="27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Member 3 - Samarth Jadhav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			</a:t>
            </a:r>
          </a:p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Mentor Name – Saurabh Tembhurne sir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College Name -  Ajeenkya DY Patil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3600">
            <a:off x="-14297" y="9073515"/>
            <a:ext cx="18316585" cy="9525"/>
            <a:chOff x="0" y="0"/>
            <a:chExt cx="24422113" cy="12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22100" cy="12700"/>
            </a:xfrm>
            <a:custGeom>
              <a:avLst/>
              <a:gdLst/>
              <a:ahLst/>
              <a:cxnLst/>
              <a:rect r="r" b="b" t="t" l="l"/>
              <a:pathLst>
                <a:path h="12700" w="24422100">
                  <a:moveTo>
                    <a:pt x="6350" y="0"/>
                  </a:moveTo>
                  <a:lnTo>
                    <a:pt x="24415750" y="0"/>
                  </a:lnTo>
                  <a:cubicBezTo>
                    <a:pt x="24419306" y="0"/>
                    <a:pt x="24422100" y="2794"/>
                    <a:pt x="24422100" y="6350"/>
                  </a:cubicBezTo>
                  <a:cubicBezTo>
                    <a:pt x="24422100" y="9906"/>
                    <a:pt x="24419306" y="12700"/>
                    <a:pt x="24415750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03183" y="1667866"/>
            <a:ext cx="7354862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Project Objectives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621899" y="1686916"/>
            <a:ext cx="6904196" cy="6920579"/>
            <a:chOff x="0" y="0"/>
            <a:chExt cx="9205595" cy="92274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05595" cy="9227439"/>
            </a:xfrm>
            <a:custGeom>
              <a:avLst/>
              <a:gdLst/>
              <a:ahLst/>
              <a:cxnLst/>
              <a:rect r="r" b="b" t="t" l="l"/>
              <a:pathLst>
                <a:path h="9227439" w="9205595">
                  <a:moveTo>
                    <a:pt x="0" y="0"/>
                  </a:moveTo>
                  <a:lnTo>
                    <a:pt x="9205595" y="0"/>
                  </a:lnTo>
                  <a:lnTo>
                    <a:pt x="9205595" y="9227439"/>
                  </a:lnTo>
                  <a:lnTo>
                    <a:pt x="0" y="9227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8" t="0" r="-118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3183" y="2810866"/>
            <a:ext cx="7870898" cy="508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main objectives are:</a:t>
            </a:r>
          </a:p>
          <a:p>
            <a:pPr algn="l" marL="633412" indent="-211138" lvl="2">
              <a:lnSpc>
                <a:spcPts val="54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develop an AI system for accurate water prediction.</a:t>
            </a:r>
          </a:p>
          <a:p>
            <a:pPr algn="l" marL="633412" indent="-211138" lvl="2">
              <a:lnSpc>
                <a:spcPts val="54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analyze weather and soil parameters.</a:t>
            </a:r>
          </a:p>
          <a:p>
            <a:pPr algn="l" marL="633412" indent="-211138" lvl="2">
              <a:lnSpc>
                <a:spcPts val="54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reduce water wastage in agriculture.</a:t>
            </a:r>
          </a:p>
          <a:p>
            <a:pPr algn="l" marL="633222" indent="-211074" lvl="2">
              <a:lnSpc>
                <a:spcPts val="54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support sustainable farming practices.</a:t>
            </a:r>
          </a:p>
          <a:p>
            <a:pPr algn="l">
              <a:lnSpc>
                <a:spcPts val="3598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simple words, we want to save water and increase crop productivity.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68424" y="1584408"/>
            <a:ext cx="8673255" cy="74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0215" y="2845937"/>
            <a:ext cx="10288476" cy="647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600" spc="-15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Agriculture consumes </a:t>
            </a:r>
            <a:r>
              <a:rPr lang="en-US" sz="3600" spc="-157">
                <a:solidFill>
                  <a:srgbClr val="3B4B5B"/>
                </a:solidFill>
                <a:latin typeface="Calibri (MS)"/>
                <a:ea typeface="Calibri (MS)"/>
                <a:cs typeface="Calibri (MS)"/>
                <a:sym typeface="Calibri (MS)"/>
              </a:rPr>
              <a:t>a </a:t>
            </a:r>
            <a:r>
              <a:rPr lang="en-US" sz="3600" spc="-157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massive </a:t>
            </a:r>
            <a:r>
              <a:rPr lang="en-US" sz="3600" spc="-157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portion </a:t>
            </a:r>
            <a:r>
              <a:rPr lang="en-US" sz="3600" spc="-157">
                <a:solidFill>
                  <a:srgbClr val="3D3D3D"/>
                </a:solidFill>
                <a:latin typeface="Calibri (MS)"/>
                <a:ea typeface="Calibri (MS)"/>
                <a:cs typeface="Calibri (MS)"/>
                <a:sym typeface="Calibri (MS)"/>
              </a:rPr>
              <a:t>of </a:t>
            </a:r>
            <a:r>
              <a:rPr lang="en-US" sz="3600" spc="-157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global </a:t>
            </a:r>
            <a:r>
              <a:rPr lang="en-US" sz="3600" spc="-157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water </a:t>
            </a:r>
            <a:r>
              <a:rPr lang="en-US" sz="3600" spc="-157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resources. </a:t>
            </a:r>
            <a:r>
              <a:rPr lang="en-US" sz="3600" spc="-157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Traditional </a:t>
            </a:r>
            <a:r>
              <a:rPr lang="en-US" sz="3600" spc="-157">
                <a:solidFill>
                  <a:srgbClr val="2A2A2A"/>
                </a:solidFill>
                <a:latin typeface="Calibri (MS)"/>
                <a:ea typeface="Calibri (MS)"/>
                <a:cs typeface="Calibri (MS)"/>
                <a:sym typeface="Calibri (MS)"/>
              </a:rPr>
              <a:t>methods </a:t>
            </a:r>
            <a:r>
              <a:rPr lang="en-US" sz="3600" spc="-15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are </a:t>
            </a:r>
            <a:r>
              <a:rPr lang="en-US" sz="3600" spc="-157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inefficient, </a:t>
            </a:r>
            <a:r>
              <a:rPr lang="en-US" sz="3600" spc="-157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leading </a:t>
            </a:r>
            <a:r>
              <a:rPr lang="en-US" sz="3600" spc="-157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to :</a:t>
            </a:r>
          </a:p>
          <a:p>
            <a:pPr algn="just">
              <a:lnSpc>
                <a:spcPts val="4739"/>
              </a:lnSpc>
            </a:pPr>
          </a:p>
          <a:p>
            <a:pPr algn="just" marL="859155" indent="-286385" lvl="2">
              <a:lnSpc>
                <a:spcPts val="4739"/>
              </a:lnSpc>
              <a:buFont typeface="Arial"/>
              <a:buChar char="⚬"/>
            </a:pPr>
            <a:r>
              <a:rPr lang="en-US" sz="3600" spc="-15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 Overwatering or </a:t>
            </a:r>
            <a:r>
              <a:rPr lang="en-US" sz="3600" spc="-15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severe </a:t>
            </a:r>
            <a:r>
              <a:rPr lang="en-US" sz="3600" spc="-15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underwatering.</a:t>
            </a:r>
          </a:p>
          <a:p>
            <a:pPr algn="just" marL="859155" indent="-286385" lvl="2">
              <a:lnSpc>
                <a:spcPts val="4739"/>
              </a:lnSpc>
            </a:pPr>
          </a:p>
          <a:p>
            <a:pPr algn="just" marL="859155" indent="-286385" lvl="2">
              <a:lnSpc>
                <a:spcPts val="4739"/>
              </a:lnSpc>
              <a:buFont typeface="Arial"/>
              <a:buChar char="⚬"/>
            </a:pPr>
            <a:r>
              <a:rPr lang="en-US" sz="3600" spc="-135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 Significant </a:t>
            </a:r>
            <a:r>
              <a:rPr lang="en-US" sz="3600" spc="-135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wastage </a:t>
            </a:r>
            <a:r>
              <a:rPr lang="en-US" sz="3600" spc="-135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of </a:t>
            </a:r>
            <a:r>
              <a:rPr lang="en-US" sz="3600" spc="-135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fresh </a:t>
            </a:r>
            <a:r>
              <a:rPr lang="en-US" sz="3600" spc="-135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water </a:t>
            </a:r>
            <a:r>
              <a:rPr lang="en-US" sz="3600" spc="-13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resources.</a:t>
            </a:r>
          </a:p>
          <a:p>
            <a:pPr algn="just" marL="859155" indent="-286385" lvl="2">
              <a:lnSpc>
                <a:spcPts val="4739"/>
              </a:lnSpc>
            </a:pPr>
          </a:p>
          <a:p>
            <a:pPr algn="l" marL="859155" indent="-286385" lvl="2">
              <a:lnSpc>
                <a:spcPts val="4739"/>
              </a:lnSpc>
              <a:buFont typeface="Arial"/>
              <a:buChar char="⚬"/>
            </a:pPr>
            <a:r>
              <a:rPr lang="en-US" sz="3600" spc="-13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600" spc="-135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</a:t>
            </a:r>
            <a:r>
              <a:rPr lang="en-US" sz="3600" spc="-135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crop </a:t>
            </a:r>
            <a:r>
              <a:rPr lang="en-US" sz="3600" spc="-135">
                <a:solidFill>
                  <a:srgbClr val="313131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productivity and  </a:t>
            </a:r>
            <a:r>
              <a:rPr lang="en-US" sz="3600" spc="-135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health.</a:t>
            </a:r>
          </a:p>
          <a:p>
            <a:pPr algn="l" marL="859155" indent="-286385" lvl="2">
              <a:lnSpc>
                <a:spcPts val="4739"/>
              </a:lnSpc>
            </a:pPr>
          </a:p>
          <a:p>
            <a:pPr algn="l" marL="859155" indent="-286385" lvl="2">
              <a:lnSpc>
                <a:spcPts val="4739"/>
              </a:lnSpc>
              <a:buFont typeface="Arial"/>
              <a:buChar char="⚬"/>
            </a:pPr>
            <a:r>
              <a:rPr lang="en-US" sz="3600" spc="-111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600" spc="-1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r>
              <a:rPr lang="en-US" sz="3600" spc="-111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ack </a:t>
            </a:r>
            <a:r>
              <a:rPr lang="en-US" sz="3600" spc="-111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of </a:t>
            </a:r>
            <a:r>
              <a:rPr lang="en-US" sz="3600" spc="-11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scientific decision </a:t>
            </a:r>
            <a:r>
              <a:rPr lang="en-US" sz="3600" spc="-111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</a:t>
            </a:r>
            <a:r>
              <a:rPr lang="en-US" sz="3600" spc="-111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systems.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05337" y="2585514"/>
            <a:ext cx="6504051" cy="7204329"/>
            <a:chOff x="0" y="0"/>
            <a:chExt cx="8672068" cy="96057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72068" cy="9605772"/>
            </a:xfrm>
            <a:custGeom>
              <a:avLst/>
              <a:gdLst/>
              <a:ahLst/>
              <a:cxnLst/>
              <a:rect r="r" b="b" t="t" l="l"/>
              <a:pathLst>
                <a:path h="9605772" w="8672068">
                  <a:moveTo>
                    <a:pt x="0" y="0"/>
                  </a:moveTo>
                  <a:lnTo>
                    <a:pt x="8672068" y="0"/>
                  </a:lnTo>
                  <a:lnTo>
                    <a:pt x="8672068" y="9605772"/>
                  </a:lnTo>
                  <a:lnTo>
                    <a:pt x="0" y="9605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998" t="0" r="-21998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81176"/>
            <a:ext cx="12477845" cy="91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Project Overview – Introduction 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12956" y="3057087"/>
            <a:ext cx="10795826" cy="5738241"/>
            <a:chOff x="0" y="0"/>
            <a:chExt cx="14394434" cy="76509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94435" cy="7650988"/>
            </a:xfrm>
            <a:custGeom>
              <a:avLst/>
              <a:gdLst/>
              <a:ahLst/>
              <a:cxnLst/>
              <a:rect r="r" b="b" t="t" l="l"/>
              <a:pathLst>
                <a:path h="7650988" w="14394435">
                  <a:moveTo>
                    <a:pt x="0" y="0"/>
                  </a:moveTo>
                  <a:lnTo>
                    <a:pt x="14394435" y="0"/>
                  </a:lnTo>
                  <a:lnTo>
                    <a:pt x="14394435" y="7650988"/>
                  </a:lnTo>
                  <a:lnTo>
                    <a:pt x="0" y="7650988"/>
                  </a:lnTo>
                  <a:close/>
                </a:path>
              </a:pathLst>
            </a:custGeom>
            <a:solidFill>
              <a:srgbClr val="212F5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63753" y="3074546"/>
            <a:ext cx="10694213" cy="566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</a:p>
          <a:p>
            <a:pPr algn="just">
              <a:lnSpc>
                <a:spcPts val="4374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project uses Artificial Intelligence to predict the water requirement of crops based on environmental factors. It helps farmers optimize irrigation, reduce water wastage, and support precision agriculture .</a:t>
            </a:r>
          </a:p>
          <a:p>
            <a:pPr algn="just">
              <a:lnSpc>
                <a:spcPts val="4374"/>
              </a:lnSpc>
            </a:pPr>
          </a:p>
          <a:p>
            <a:pPr algn="just" marL="1102519" indent="-367506" lvl="2">
              <a:lnSpc>
                <a:spcPts val="4374"/>
              </a:lnSpc>
              <a:buFont typeface="Arial"/>
              <a:buChar char="⚬"/>
            </a:pPr>
            <a:r>
              <a:rPr lang="en-US" sz="3000" spc="-3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Neural Network-based prediction. </a:t>
            </a:r>
          </a:p>
          <a:p>
            <a:pPr algn="just" marL="1102519" indent="-367506" lvl="2">
              <a:lnSpc>
                <a:spcPts val="4374"/>
              </a:lnSpc>
            </a:pPr>
          </a:p>
          <a:p>
            <a:pPr algn="just" marL="1102519" indent="-367506" lvl="2">
              <a:lnSpc>
                <a:spcPts val="4374"/>
              </a:lnSpc>
              <a:buFont typeface="Arial"/>
              <a:buChar char="⚬"/>
            </a:pPr>
            <a:r>
              <a:rPr lang="en-US" sz="3000" spc="-1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Real-time water estimation.</a:t>
            </a:r>
          </a:p>
          <a:p>
            <a:pPr algn="just" marL="1102519" indent="-367506" lvl="2">
              <a:lnSpc>
                <a:spcPts val="4374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1430610" y="2365477"/>
            <a:ext cx="6666262" cy="7121366"/>
            <a:chOff x="0" y="0"/>
            <a:chExt cx="8888349" cy="94951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88349" cy="9495155"/>
            </a:xfrm>
            <a:custGeom>
              <a:avLst/>
              <a:gdLst/>
              <a:ahLst/>
              <a:cxnLst/>
              <a:rect r="r" b="b" t="t" l="l"/>
              <a:pathLst>
                <a:path h="9495155" w="8888349">
                  <a:moveTo>
                    <a:pt x="0" y="0"/>
                  </a:moveTo>
                  <a:lnTo>
                    <a:pt x="8888349" y="0"/>
                  </a:lnTo>
                  <a:lnTo>
                    <a:pt x="8888349" y="9495155"/>
                  </a:lnTo>
                  <a:lnTo>
                    <a:pt x="0" y="9495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300" t="0" r="-630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66421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End Users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8440" y="3354591"/>
            <a:ext cx="4385434" cy="178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spc="121">
                <a:solidFill>
                  <a:srgbClr val="1F3162"/>
                </a:solidFill>
                <a:latin typeface="Calibri (MS)"/>
                <a:ea typeface="Calibri (MS)"/>
                <a:cs typeface="Calibri (MS)"/>
                <a:sym typeface="Calibri (MS)"/>
              </a:rPr>
              <a:t>Agri-Tech</a:t>
            </a:r>
          </a:p>
          <a:p>
            <a:pPr algn="ctr">
              <a:lnSpc>
                <a:spcPts val="710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545829" y="3389767"/>
            <a:ext cx="4385434" cy="1788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spc="2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Farmers</a:t>
            </a:r>
          </a:p>
          <a:p>
            <a:pPr algn="ctr">
              <a:lnSpc>
                <a:spcPts val="710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311035" y="3389767"/>
            <a:ext cx="4385434" cy="2108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spc="195">
                <a:solidFill>
                  <a:srgbClr val="212F62"/>
                </a:solidFill>
                <a:latin typeface="Calibri (MS)"/>
                <a:ea typeface="Calibri (MS)"/>
                <a:cs typeface="Calibri (MS)"/>
                <a:sym typeface="Calibri (MS)"/>
              </a:rPr>
              <a:t>Researchers</a:t>
            </a:r>
          </a:p>
          <a:p>
            <a:pPr algn="ctr">
              <a:lnSpc>
                <a:spcPts val="7108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-276997"/>
            <a:ext cx="373180" cy="554003"/>
            <a:chOff x="0" y="0"/>
            <a:chExt cx="497573" cy="738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7586" cy="738632"/>
            </a:xfrm>
            <a:custGeom>
              <a:avLst/>
              <a:gdLst/>
              <a:ahLst/>
              <a:cxnLst/>
              <a:rect r="r" b="b" t="t" l="l"/>
              <a:pathLst>
                <a:path h="738632" w="497586">
                  <a:moveTo>
                    <a:pt x="0" y="0"/>
                  </a:moveTo>
                  <a:lnTo>
                    <a:pt x="497586" y="0"/>
                  </a:lnTo>
                  <a:lnTo>
                    <a:pt x="497586" y="738632"/>
                  </a:lnTo>
                  <a:lnTo>
                    <a:pt x="0" y="73863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0599" t="0" r="-140597" b="-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-291284"/>
            <a:ext cx="373180" cy="568290"/>
            <a:chOff x="0" y="0"/>
            <a:chExt cx="497573" cy="757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573" cy="757721"/>
            </a:xfrm>
            <a:custGeom>
              <a:avLst/>
              <a:gdLst/>
              <a:ahLst/>
              <a:cxnLst/>
              <a:rect r="r" b="b" t="t" l="l"/>
              <a:pathLst>
                <a:path h="757721" w="497573">
                  <a:moveTo>
                    <a:pt x="0" y="0"/>
                  </a:moveTo>
                  <a:lnTo>
                    <a:pt x="497573" y="0"/>
                  </a:lnTo>
                  <a:lnTo>
                    <a:pt x="497573" y="757721"/>
                  </a:lnTo>
                  <a:lnTo>
                    <a:pt x="0" y="75772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5384" t="0" r="-14538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573" cy="77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8600" y="-48397"/>
            <a:ext cx="373180" cy="554003"/>
            <a:chOff x="0" y="0"/>
            <a:chExt cx="497573" cy="7386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7586" cy="738632"/>
            </a:xfrm>
            <a:custGeom>
              <a:avLst/>
              <a:gdLst/>
              <a:ahLst/>
              <a:cxnLst/>
              <a:rect r="r" b="b" t="t" l="l"/>
              <a:pathLst>
                <a:path h="738632" w="497586">
                  <a:moveTo>
                    <a:pt x="0" y="0"/>
                  </a:moveTo>
                  <a:lnTo>
                    <a:pt x="497586" y="0"/>
                  </a:lnTo>
                  <a:lnTo>
                    <a:pt x="497586" y="738632"/>
                  </a:lnTo>
                  <a:lnTo>
                    <a:pt x="0" y="73863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0599" t="0" r="-140597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28600" y="-62684"/>
            <a:ext cx="373180" cy="568290"/>
            <a:chOff x="0" y="0"/>
            <a:chExt cx="497573" cy="757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7573" cy="757721"/>
            </a:xfrm>
            <a:custGeom>
              <a:avLst/>
              <a:gdLst/>
              <a:ahLst/>
              <a:cxnLst/>
              <a:rect r="r" b="b" t="t" l="l"/>
              <a:pathLst>
                <a:path h="757721" w="497573">
                  <a:moveTo>
                    <a:pt x="0" y="0"/>
                  </a:moveTo>
                  <a:lnTo>
                    <a:pt x="497573" y="0"/>
                  </a:lnTo>
                  <a:lnTo>
                    <a:pt x="497573" y="757721"/>
                  </a:lnTo>
                  <a:lnTo>
                    <a:pt x="0" y="75772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5384" t="0" r="-145384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97573" cy="77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02573" y="5143500"/>
            <a:ext cx="5560143" cy="2215991"/>
            <a:chOff x="0" y="0"/>
            <a:chExt cx="7413523" cy="29546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13498" cy="2954655"/>
            </a:xfrm>
            <a:custGeom>
              <a:avLst/>
              <a:gdLst/>
              <a:ahLst/>
              <a:cxnLst/>
              <a:rect r="r" b="b" t="t" l="l"/>
              <a:pathLst>
                <a:path h="2954655" w="7413498">
                  <a:moveTo>
                    <a:pt x="0" y="0"/>
                  </a:moveTo>
                  <a:lnTo>
                    <a:pt x="7413498" y="0"/>
                  </a:lnTo>
                  <a:lnTo>
                    <a:pt x="7413498" y="2954655"/>
                  </a:lnTo>
                  <a:lnTo>
                    <a:pt x="0" y="295465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70" t="0" r="-1171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102573" y="5129212"/>
            <a:ext cx="5560143" cy="2230279"/>
            <a:chOff x="0" y="0"/>
            <a:chExt cx="7413523" cy="29737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13524" cy="2973705"/>
            </a:xfrm>
            <a:custGeom>
              <a:avLst/>
              <a:gdLst/>
              <a:ahLst/>
              <a:cxnLst/>
              <a:rect r="r" b="b" t="t" l="l"/>
              <a:pathLst>
                <a:path h="2973705" w="7413524">
                  <a:moveTo>
                    <a:pt x="0" y="0"/>
                  </a:moveTo>
                  <a:lnTo>
                    <a:pt x="7413524" y="0"/>
                  </a:lnTo>
                  <a:lnTo>
                    <a:pt x="7413524" y="2973705"/>
                  </a:lnTo>
                  <a:lnTo>
                    <a:pt x="0" y="297370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64" t="0" r="-146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413523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Optimizes daily irrigation based      on weather conditions.</a:t>
              </a:r>
            </a:p>
            <a:p>
              <a:pPr algn="l" marL="570071" indent="-190024" lvl="2">
                <a:lnSpc>
                  <a:spcPts val="3240"/>
                </a:lnSpc>
              </a:pPr>
            </a:p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Improves crop yield and reduces water wastage.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8257" y="5143500"/>
            <a:ext cx="5766616" cy="2215991"/>
            <a:chOff x="0" y="0"/>
            <a:chExt cx="7688821" cy="295465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8834" cy="2954655"/>
            </a:xfrm>
            <a:custGeom>
              <a:avLst/>
              <a:gdLst/>
              <a:ahLst/>
              <a:cxnLst/>
              <a:rect r="r" b="b" t="t" l="l"/>
              <a:pathLst>
                <a:path h="2954655" w="7688834">
                  <a:moveTo>
                    <a:pt x="0" y="0"/>
                  </a:moveTo>
                  <a:lnTo>
                    <a:pt x="7688834" y="0"/>
                  </a:lnTo>
                  <a:lnTo>
                    <a:pt x="7688834" y="2954655"/>
                  </a:lnTo>
                  <a:lnTo>
                    <a:pt x="0" y="295465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70" r="0" b="-67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8257" y="5129212"/>
            <a:ext cx="5766616" cy="2230279"/>
            <a:chOff x="0" y="0"/>
            <a:chExt cx="7688821" cy="297370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8821" cy="2973705"/>
            </a:xfrm>
            <a:custGeom>
              <a:avLst/>
              <a:gdLst/>
              <a:ahLst/>
              <a:cxnLst/>
              <a:rect r="r" b="b" t="t" l="l"/>
              <a:pathLst>
                <a:path h="2973705" w="7688821">
                  <a:moveTo>
                    <a:pt x="0" y="0"/>
                  </a:moveTo>
                  <a:lnTo>
                    <a:pt x="7688821" y="0"/>
                  </a:lnTo>
                  <a:lnTo>
                    <a:pt x="7688821" y="2973705"/>
                  </a:lnTo>
                  <a:lnTo>
                    <a:pt x="0" y="297370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80" r="0" b="-3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7688821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Integrates AI into smart irrigation  and farming systems.</a:t>
              </a:r>
            </a:p>
            <a:p>
              <a:pPr algn="l" marL="570071" indent="-190024" lvl="2">
                <a:lnSpc>
                  <a:spcPts val="3240"/>
                </a:lnSpc>
              </a:pPr>
            </a:p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Supports precision agriculture and automation.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963830" y="5143500"/>
            <a:ext cx="5324170" cy="2605630"/>
            <a:chOff x="0" y="0"/>
            <a:chExt cx="7098894" cy="347417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98919" cy="3474212"/>
            </a:xfrm>
            <a:custGeom>
              <a:avLst/>
              <a:gdLst/>
              <a:ahLst/>
              <a:cxnLst/>
              <a:rect r="r" b="b" t="t" l="l"/>
              <a:pathLst>
                <a:path h="3474212" w="7098919">
                  <a:moveTo>
                    <a:pt x="0" y="0"/>
                  </a:moveTo>
                  <a:lnTo>
                    <a:pt x="7098919" y="0"/>
                  </a:lnTo>
                  <a:lnTo>
                    <a:pt x="7098919" y="3474212"/>
                  </a:lnTo>
                  <a:lnTo>
                    <a:pt x="0" y="34742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2834" t="0" r="-12834" b="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963830" y="5129212"/>
            <a:ext cx="5324170" cy="2619918"/>
            <a:chOff x="0" y="0"/>
            <a:chExt cx="7098894" cy="34932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98893" cy="3493219"/>
            </a:xfrm>
            <a:custGeom>
              <a:avLst/>
              <a:gdLst/>
              <a:ahLst/>
              <a:cxnLst/>
              <a:rect r="r" b="b" t="t" l="l"/>
              <a:pathLst>
                <a:path h="3493219" w="7098893">
                  <a:moveTo>
                    <a:pt x="0" y="0"/>
                  </a:moveTo>
                  <a:lnTo>
                    <a:pt x="7098893" y="0"/>
                  </a:lnTo>
                  <a:lnTo>
                    <a:pt x="7098893" y="3493219"/>
                  </a:lnTo>
                  <a:lnTo>
                    <a:pt x="0" y="34932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135" t="0" r="-13135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7098894" cy="3512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Analyzes environmental data for resource management.</a:t>
              </a:r>
            </a:p>
            <a:p>
              <a:pPr algn="l" marL="570071" indent="-190024" lvl="2">
                <a:lnSpc>
                  <a:spcPts val="3240"/>
                </a:lnSpc>
              </a:pPr>
            </a:p>
            <a:p>
              <a:pPr algn="l" marL="570071" indent="-190024" lvl="2">
                <a:lnSpc>
                  <a:spcPts val="3240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Studies crop-water relationships and climate impact.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66421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Wow Factors in Project 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" y="3223727"/>
            <a:ext cx="11058344" cy="607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6"/>
              </a:lnSpc>
            </a:pPr>
            <a:r>
              <a:rPr lang="en-US" sz="5496">
                <a:solidFill>
                  <a:srgbClr val="212F60"/>
                </a:solidFill>
                <a:latin typeface="Calibri (MS)"/>
                <a:ea typeface="Calibri (MS)"/>
                <a:cs typeface="Calibri (MS)"/>
                <a:sym typeface="Calibri (MS)"/>
              </a:rPr>
              <a:t>  Intelligent </a:t>
            </a:r>
            <a:r>
              <a:rPr lang="en-US" sz="5496">
                <a:solidFill>
                  <a:srgbClr val="1F3159"/>
                </a:solidFill>
                <a:latin typeface="Calibri (MS)"/>
                <a:ea typeface="Calibri (MS)"/>
                <a:cs typeface="Calibri (MS)"/>
                <a:sym typeface="Calibri (MS)"/>
              </a:rPr>
              <a:t>Smart </a:t>
            </a:r>
            <a:r>
              <a:rPr lang="en-US" sz="5496">
                <a:solidFill>
                  <a:srgbClr val="1F315B"/>
                </a:solidFill>
                <a:latin typeface="Calibri (MS)"/>
                <a:ea typeface="Calibri (MS)"/>
                <a:cs typeface="Calibri (MS)"/>
                <a:sym typeface="Calibri (MS)"/>
              </a:rPr>
              <a:t>Farming </a:t>
            </a:r>
          </a:p>
          <a:p>
            <a:pPr algn="l" marL="1199055" indent="-399685" lvl="2">
              <a:lnSpc>
                <a:spcPts val="4341"/>
              </a:lnSpc>
              <a:buFont typeface="Arial"/>
              <a:buChar char="⚬"/>
            </a:pPr>
            <a:r>
              <a:rPr lang="en-US" sz="3298" spc="-12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Neural </a:t>
            </a:r>
            <a:r>
              <a:rPr lang="en-US" sz="3298" spc="-12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Network </a:t>
            </a:r>
            <a:r>
              <a:rPr lang="en-US" sz="3298" spc="-12">
                <a:solidFill>
                  <a:srgbClr val="2A3D5D"/>
                </a:solidFill>
                <a:latin typeface="Calibri (MS)"/>
                <a:ea typeface="Calibri (MS)"/>
                <a:cs typeface="Calibri (MS)"/>
                <a:sym typeface="Calibri (MS)"/>
              </a:rPr>
              <a:t>Core: </a:t>
            </a:r>
            <a:r>
              <a:rPr lang="en-US" sz="3298" spc="-12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High-precision </a:t>
            </a:r>
            <a:r>
              <a:rPr lang="en-US" sz="3298" spc="-12">
                <a:solidFill>
                  <a:srgbClr val="313131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prediction </a:t>
            </a:r>
            <a:r>
              <a:rPr lang="en-US" sz="3298" spc="-12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model.</a:t>
            </a:r>
          </a:p>
          <a:p>
            <a:pPr algn="l" marL="1199055" indent="-399685" lvl="2">
              <a:lnSpc>
                <a:spcPts val="4341"/>
              </a:lnSpc>
              <a:buFont typeface="Arial"/>
              <a:buChar char="⚬"/>
            </a:pPr>
            <a:r>
              <a:rPr lang="en-US" sz="3298" spc="-48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</a:t>
            </a:r>
            <a:r>
              <a:rPr lang="en-US" sz="3298" spc="-48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Interface: </a:t>
            </a:r>
            <a:r>
              <a:rPr lang="en-US" sz="3298" spc="-48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Streamlit web </a:t>
            </a:r>
            <a:r>
              <a:rPr lang="en-US" sz="3298" spc="-48">
                <a:solidFill>
                  <a:srgbClr val="2A2A2A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application.</a:t>
            </a:r>
          </a:p>
          <a:p>
            <a:pPr algn="l" marL="1198618" indent="-399539" lvl="2">
              <a:lnSpc>
                <a:spcPts val="4341"/>
              </a:lnSpc>
              <a:buFont typeface="Arial"/>
              <a:buChar char="⚬"/>
            </a:pPr>
            <a:r>
              <a:rPr lang="en-US" sz="3298" spc="-68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</a:t>
            </a:r>
            <a:r>
              <a:rPr lang="en-US" sz="3298" spc="-68">
                <a:solidFill>
                  <a:srgbClr val="3F3F3F"/>
                </a:solidFill>
                <a:latin typeface="Calibri (MS)"/>
                <a:ea typeface="Calibri (MS)"/>
                <a:cs typeface="Calibri (MS)"/>
                <a:sym typeface="Calibri (MS)"/>
              </a:rPr>
              <a:t>Flow: </a:t>
            </a:r>
            <a:r>
              <a:rPr lang="en-US" sz="3298" spc="-68">
                <a:solidFill>
                  <a:srgbClr val="3A3A3A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</a:t>
            </a:r>
            <a:r>
              <a:rPr lang="en-US" sz="3298" spc="-68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engineering </a:t>
            </a:r>
            <a:r>
              <a:rPr lang="en-US" sz="3298" spc="-68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without </a:t>
            </a:r>
            <a:r>
              <a:rPr lang="en-US" sz="3298" spc="-68">
                <a:solidFill>
                  <a:srgbClr val="424242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</a:t>
            </a:r>
            <a:r>
              <a:rPr lang="en-US" sz="3298" spc="-68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bias.</a:t>
            </a:r>
          </a:p>
          <a:p>
            <a:pPr algn="l" marL="1199490" indent="-399830" lvl="2">
              <a:lnSpc>
                <a:spcPts val="4341"/>
              </a:lnSpc>
              <a:buFont typeface="Arial"/>
              <a:buChar char="⚬"/>
            </a:pPr>
            <a:r>
              <a:rPr lang="en-US" sz="3298" spc="-12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User-Centric: </a:t>
            </a:r>
            <a:r>
              <a:rPr lang="en-US" sz="3298" spc="-12">
                <a:solidFill>
                  <a:srgbClr val="343434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</a:t>
            </a:r>
            <a:r>
              <a:rPr lang="en-US" sz="3298" spc="-12">
                <a:solidFill>
                  <a:srgbClr val="2F2F2F"/>
                </a:solidFill>
                <a:latin typeface="Calibri (MS)"/>
                <a:ea typeface="Calibri (MS)"/>
                <a:cs typeface="Calibri (MS)"/>
                <a:sym typeface="Calibri (MS)"/>
              </a:rPr>
              <a:t>designed </a:t>
            </a:r>
            <a:r>
              <a:rPr lang="en-US" sz="3298" spc="-12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for </a:t>
            </a:r>
            <a:r>
              <a:rPr lang="en-US" sz="3298" spc="-12">
                <a:solidFill>
                  <a:srgbClr val="383838"/>
                </a:solidFill>
                <a:latin typeface="Calibri (MS)"/>
                <a:ea typeface="Calibri (MS)"/>
                <a:cs typeface="Calibri (MS)"/>
                <a:sym typeface="Calibri (MS)"/>
              </a:rPr>
              <a:t>non- </a:t>
            </a:r>
            <a:r>
              <a:rPr lang="en-US" sz="3298" spc="-12">
                <a:solidFill>
                  <a:srgbClr val="2D2D2D"/>
                </a:solidFill>
                <a:latin typeface="Calibri (MS)"/>
                <a:ea typeface="Calibri (MS)"/>
                <a:cs typeface="Calibri (MS)"/>
                <a:sym typeface="Calibri (MS)"/>
              </a:rPr>
              <a:t>technical </a:t>
            </a:r>
            <a:r>
              <a:rPr lang="en-US" sz="3298" spc="-12">
                <a:solidFill>
                  <a:srgbClr val="363636"/>
                </a:solidFill>
                <a:latin typeface="Calibri (MS)"/>
                <a:ea typeface="Calibri (MS)"/>
                <a:cs typeface="Calibri (MS)"/>
                <a:sym typeface="Calibri (MS)"/>
              </a:rPr>
              <a:t>users.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206934" y="2587295"/>
            <a:ext cx="6681025" cy="6671015"/>
            <a:chOff x="0" y="0"/>
            <a:chExt cx="8908034" cy="88946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08034" cy="8894699"/>
            </a:xfrm>
            <a:custGeom>
              <a:avLst/>
              <a:gdLst/>
              <a:ahLst/>
              <a:cxnLst/>
              <a:rect r="r" b="b" t="t" l="l"/>
              <a:pathLst>
                <a:path h="8894699" w="8908034">
                  <a:moveTo>
                    <a:pt x="0" y="0"/>
                  </a:moveTo>
                  <a:lnTo>
                    <a:pt x="8908034" y="0"/>
                  </a:lnTo>
                  <a:lnTo>
                    <a:pt x="8908034" y="8894699"/>
                  </a:lnTo>
                  <a:lnTo>
                    <a:pt x="0" y="8894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334" r="0" b="-6334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44184" y="2397385"/>
            <a:ext cx="8170335" cy="7762342"/>
            <a:chOff x="0" y="0"/>
            <a:chExt cx="10893781" cy="103497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93806" cy="10349738"/>
            </a:xfrm>
            <a:custGeom>
              <a:avLst/>
              <a:gdLst/>
              <a:ahLst/>
              <a:cxnLst/>
              <a:rect r="r" b="b" t="t" l="l"/>
              <a:pathLst>
                <a:path h="10349738" w="10893806">
                  <a:moveTo>
                    <a:pt x="0" y="0"/>
                  </a:moveTo>
                  <a:lnTo>
                    <a:pt x="10893806" y="0"/>
                  </a:lnTo>
                  <a:lnTo>
                    <a:pt x="10893806" y="10349738"/>
                  </a:lnTo>
                  <a:lnTo>
                    <a:pt x="0" y="10349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28" r="0" b="-2628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558205" y="9258300"/>
            <a:ext cx="2056314" cy="889826"/>
          </a:xfrm>
          <a:custGeom>
            <a:avLst/>
            <a:gdLst/>
            <a:ahLst/>
            <a:cxnLst/>
            <a:rect r="r" b="b" t="t" l="l"/>
            <a:pathLst>
              <a:path h="889826" w="2056314">
                <a:moveTo>
                  <a:pt x="0" y="0"/>
                </a:moveTo>
                <a:lnTo>
                  <a:pt x="2056314" y="0"/>
                </a:lnTo>
                <a:lnTo>
                  <a:pt x="2056314" y="889826"/>
                </a:lnTo>
                <a:lnTo>
                  <a:pt x="0" y="8898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83" r="0" b="-28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4545" y="1316384"/>
            <a:ext cx="1293504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Modelling/Block Diagram/Flow of Project 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843148" y="2511742"/>
            <a:ext cx="14183843" cy="7775257"/>
          </a:xfrm>
          <a:custGeom>
            <a:avLst/>
            <a:gdLst/>
            <a:ahLst/>
            <a:cxnLst/>
            <a:rect r="r" b="b" t="t" l="l"/>
            <a:pathLst>
              <a:path h="7775257" w="14183843">
                <a:moveTo>
                  <a:pt x="0" y="0"/>
                </a:moveTo>
                <a:lnTo>
                  <a:pt x="14183842" y="0"/>
                </a:lnTo>
                <a:lnTo>
                  <a:pt x="14183842" y="7775258"/>
                </a:lnTo>
                <a:lnTo>
                  <a:pt x="0" y="7775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1814" y="1383116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Technology Stack 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66421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Result/Outcomes 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85995" y="5143500"/>
            <a:ext cx="6726469" cy="1107281"/>
            <a:chOff x="0" y="0"/>
            <a:chExt cx="8968626" cy="14763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68613" cy="1476375"/>
            </a:xfrm>
            <a:custGeom>
              <a:avLst/>
              <a:gdLst/>
              <a:ahLst/>
              <a:cxnLst/>
              <a:rect r="r" b="b" t="t" l="l"/>
              <a:pathLst>
                <a:path h="1476375" w="8968613">
                  <a:moveTo>
                    <a:pt x="0" y="0"/>
                  </a:moveTo>
                  <a:lnTo>
                    <a:pt x="8968613" y="0"/>
                  </a:lnTo>
                  <a:lnTo>
                    <a:pt x="8968613" y="1476375"/>
                  </a:lnTo>
                  <a:lnTo>
                    <a:pt x="0" y="1476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456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85995" y="3622091"/>
            <a:ext cx="12573267" cy="1095470"/>
            <a:chOff x="0" y="0"/>
            <a:chExt cx="16764356" cy="14606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764381" cy="1460627"/>
            </a:xfrm>
            <a:custGeom>
              <a:avLst/>
              <a:gdLst/>
              <a:ahLst/>
              <a:cxnLst/>
              <a:rect r="r" b="b" t="t" l="l"/>
              <a:pathLst>
                <a:path h="1460627" w="16764381">
                  <a:moveTo>
                    <a:pt x="0" y="0"/>
                  </a:moveTo>
                  <a:lnTo>
                    <a:pt x="16764381" y="0"/>
                  </a:lnTo>
                  <a:lnTo>
                    <a:pt x="16764381" y="1460627"/>
                  </a:lnTo>
                  <a:lnTo>
                    <a:pt x="0" y="1460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9659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641399" y="7954166"/>
            <a:ext cx="289274" cy="447675"/>
            <a:chOff x="0" y="0"/>
            <a:chExt cx="385699" cy="596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5699" cy="596900"/>
            </a:xfrm>
            <a:custGeom>
              <a:avLst/>
              <a:gdLst/>
              <a:ahLst/>
              <a:cxnLst/>
              <a:rect r="r" b="b" t="t" l="l"/>
              <a:pathLst>
                <a:path h="596900" w="385699">
                  <a:moveTo>
                    <a:pt x="0" y="0"/>
                  </a:moveTo>
                  <a:lnTo>
                    <a:pt x="385699" y="0"/>
                  </a:lnTo>
                  <a:lnTo>
                    <a:pt x="385699" y="596900"/>
                  </a:lnTo>
                  <a:lnTo>
                    <a:pt x="0" y="59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124" t="0" r="-13124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641399" y="7294502"/>
            <a:ext cx="10888790" cy="1095470"/>
            <a:chOff x="0" y="0"/>
            <a:chExt cx="14518386" cy="14606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518387" cy="1460627"/>
            </a:xfrm>
            <a:custGeom>
              <a:avLst/>
              <a:gdLst/>
              <a:ahLst/>
              <a:cxnLst/>
              <a:rect r="r" b="b" t="t" l="l"/>
              <a:pathLst>
                <a:path h="1460627" w="14518387">
                  <a:moveTo>
                    <a:pt x="14518387" y="1460627"/>
                  </a:moveTo>
                  <a:lnTo>
                    <a:pt x="0" y="1460627"/>
                  </a:lnTo>
                  <a:lnTo>
                    <a:pt x="0" y="0"/>
                  </a:lnTo>
                  <a:lnTo>
                    <a:pt x="14518387" y="0"/>
                  </a:lnTo>
                  <a:lnTo>
                    <a:pt x="14518387" y="1460627"/>
                  </a:lnTo>
                  <a:close/>
                </a:path>
              </a:pathLst>
            </a:custGeom>
            <a:solidFill>
              <a:srgbClr val="D8DFF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422716" y="7769285"/>
            <a:ext cx="155039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78% Improve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4588" y="3777977"/>
            <a:ext cx="2927756" cy="242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315D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Prediction </a:t>
            </a:r>
            <a:r>
              <a:rPr lang="en-US" sz="2700">
                <a:solidFill>
                  <a:srgbClr val="1D2D52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 spc="-30">
                <a:solidFill>
                  <a:srgbClr val="1F3367"/>
                </a:solidFill>
                <a:latin typeface="Calibri (MS)"/>
                <a:ea typeface="Calibri (MS)"/>
                <a:cs typeface="Calibri (MS)"/>
                <a:sym typeface="Calibri (MS)"/>
              </a:rPr>
              <a:t>Water </a:t>
            </a:r>
            <a:r>
              <a:rPr lang="en-US" sz="2700" spc="-30">
                <a:solidFill>
                  <a:srgbClr val="162D54"/>
                </a:solidFill>
                <a:latin typeface="Calibri (MS)"/>
                <a:ea typeface="Calibri (MS)"/>
                <a:cs typeface="Calibri (MS)"/>
                <a:sym typeface="Calibri (MS)"/>
              </a:rPr>
              <a:t>Savings </a:t>
            </a:r>
            <a:r>
              <a:rPr lang="en-US" sz="2700" spc="-30">
                <a:solidFill>
                  <a:srgbClr val="163867"/>
                </a:solidFill>
                <a:latin typeface="Calibri (MS)"/>
                <a:ea typeface="Calibri (MS)"/>
                <a:cs typeface="Calibri (MS)"/>
                <a:sym typeface="Calibri (MS)"/>
              </a:rPr>
              <a:t>(Est.)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9100" y="7447140"/>
            <a:ext cx="2658732" cy="53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spc="-15">
                <a:solidFill>
                  <a:srgbClr val="1F365B"/>
                </a:solidFill>
                <a:latin typeface="Calibri (MS)"/>
                <a:ea typeface="Calibri (MS)"/>
                <a:cs typeface="Calibri (MS)"/>
                <a:sym typeface="Calibri (MS)"/>
              </a:rPr>
              <a:t>Irrigation </a:t>
            </a:r>
            <a:r>
              <a:rPr lang="en-US" sz="2700" spc="-15">
                <a:solidFill>
                  <a:srgbClr val="2D3B64"/>
                </a:solidFill>
                <a:latin typeface="Calibri (MS)"/>
                <a:ea typeface="Calibri (MS)"/>
                <a:cs typeface="Calibri (MS)"/>
                <a:sym typeface="Calibri (MS)"/>
              </a:rPr>
              <a:t>Efficiency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66421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Conclusion 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2961" y="3749421"/>
            <a:ext cx="14329534" cy="398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i="true" spc="-150">
                <a:solidFill>
                  <a:srgbClr val="212D5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“The  </a:t>
            </a:r>
            <a:r>
              <a:rPr lang="en-US" sz="6000" i="true" spc="-150">
                <a:solidFill>
                  <a:srgbClr val="21315D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project successfully demonstrates   </a:t>
            </a:r>
            <a:r>
              <a:rPr lang="en-US" sz="6000" i="true" spc="-150">
                <a:solidFill>
                  <a:srgbClr val="21316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that   </a:t>
            </a:r>
            <a:r>
              <a:rPr lang="en-US" sz="6000" i="true" spc="-150">
                <a:solidFill>
                  <a:srgbClr val="212F6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Al </a:t>
            </a:r>
            <a:r>
              <a:rPr lang="en-US" sz="6000" i="true" spc="-150">
                <a:solidFill>
                  <a:srgbClr val="23335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can </a:t>
            </a:r>
            <a:r>
              <a:rPr lang="en-US" sz="6000" i="true" spc="-150">
                <a:solidFill>
                  <a:srgbClr val="2834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transform </a:t>
            </a:r>
            <a:r>
              <a:rPr lang="en-US" sz="6000" i="true" spc="-150">
                <a:solidFill>
                  <a:srgbClr val="1C265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irrigation </a:t>
            </a:r>
            <a:r>
              <a:rPr lang="en-US" sz="6000" i="true" spc="-150">
                <a:solidFill>
                  <a:srgbClr val="26366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management, </a:t>
            </a:r>
            <a:r>
              <a:rPr lang="en-US" sz="6000" i="true" spc="-150">
                <a:solidFill>
                  <a:srgbClr val="24336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boosting productivity </a:t>
            </a:r>
            <a:r>
              <a:rPr lang="en-US" sz="6000" i="true" spc="-150">
                <a:solidFill>
                  <a:srgbClr val="21346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while </a:t>
            </a:r>
            <a:r>
              <a:rPr lang="en-US" sz="6000" i="true" spc="-150">
                <a:solidFill>
                  <a:srgbClr val="283456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ensuring environmental sustainability”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4545" y="1466421"/>
            <a:ext cx="8673255" cy="8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Future Perspective 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9065" y="2756059"/>
            <a:ext cx="11029950" cy="6786562"/>
            <a:chOff x="0" y="0"/>
            <a:chExt cx="14706600" cy="9048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706600" cy="9048750"/>
            </a:xfrm>
            <a:custGeom>
              <a:avLst/>
              <a:gdLst/>
              <a:ahLst/>
              <a:cxnLst/>
              <a:rect r="r" b="b" t="t" l="l"/>
              <a:pathLst>
                <a:path h="9048750" w="14706600">
                  <a:moveTo>
                    <a:pt x="0" y="0"/>
                  </a:moveTo>
                  <a:lnTo>
                    <a:pt x="14706600" y="0"/>
                  </a:lnTo>
                  <a:lnTo>
                    <a:pt x="14706600" y="9048750"/>
                  </a:lnTo>
                  <a:lnTo>
                    <a:pt x="0" y="904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69015" y="2480853"/>
            <a:ext cx="6604254" cy="5884164"/>
            <a:chOff x="0" y="0"/>
            <a:chExt cx="8805672" cy="78455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05672" cy="7845552"/>
            </a:xfrm>
            <a:custGeom>
              <a:avLst/>
              <a:gdLst/>
              <a:ahLst/>
              <a:cxnLst/>
              <a:rect r="r" b="b" t="t" l="l"/>
              <a:pathLst>
                <a:path h="7845552" w="8805672">
                  <a:moveTo>
                    <a:pt x="0" y="0"/>
                  </a:moveTo>
                  <a:lnTo>
                    <a:pt x="8805672" y="0"/>
                  </a:lnTo>
                  <a:lnTo>
                    <a:pt x="8805672" y="7845552"/>
                  </a:lnTo>
                  <a:lnTo>
                    <a:pt x="0" y="784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" r="0" b="-2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09031" y="117005"/>
            <a:ext cx="2700338" cy="863251"/>
            <a:chOff x="0" y="0"/>
            <a:chExt cx="3600450" cy="1151001"/>
          </a:xfrm>
        </p:grpSpPr>
        <p:sp>
          <p:nvSpPr>
            <p:cNvPr name="Freeform 3" id="3" descr="A close up of a sign  Description automatically generated"/>
            <p:cNvSpPr/>
            <p:nvPr/>
          </p:nvSpPr>
          <p:spPr>
            <a:xfrm flipH="false" flipV="false" rot="0">
              <a:off x="0" y="0"/>
              <a:ext cx="3600450" cy="1151001"/>
            </a:xfrm>
            <a:custGeom>
              <a:avLst/>
              <a:gdLst/>
              <a:ahLst/>
              <a:cxnLst/>
              <a:rect r="r" b="b" t="t" l="l"/>
              <a:pathLst>
                <a:path h="1151001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1151001"/>
                  </a:lnTo>
                  <a:lnTo>
                    <a:pt x="0" y="1151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10" r="0" b="-251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9050" y="-19050"/>
            <a:ext cx="14782800" cy="1114520"/>
          </a:xfrm>
          <a:custGeom>
            <a:avLst/>
            <a:gdLst/>
            <a:ahLst/>
            <a:cxnLst/>
            <a:rect r="r" b="b" t="t" l="l"/>
            <a:pathLst>
              <a:path h="1114520" w="14782800">
                <a:moveTo>
                  <a:pt x="0" y="0"/>
                </a:moveTo>
                <a:lnTo>
                  <a:pt x="14782800" y="0"/>
                </a:lnTo>
                <a:lnTo>
                  <a:pt x="14782800" y="1114520"/>
                </a:lnTo>
                <a:lnTo>
                  <a:pt x="0" y="1114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33454" y="-629"/>
            <a:ext cx="168402" cy="1098518"/>
            <a:chOff x="0" y="0"/>
            <a:chExt cx="224536" cy="1464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536" cy="1464691"/>
            </a:xfrm>
            <a:custGeom>
              <a:avLst/>
              <a:gdLst/>
              <a:ahLst/>
              <a:cxnLst/>
              <a:rect r="r" b="b" t="t" l="l"/>
              <a:pathLst>
                <a:path h="1464691" w="224536">
                  <a:moveTo>
                    <a:pt x="0" y="0"/>
                  </a:moveTo>
                  <a:lnTo>
                    <a:pt x="224536" y="0"/>
                  </a:lnTo>
                  <a:lnTo>
                    <a:pt x="224536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7FBA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-19050"/>
            <a:ext cx="14758988" cy="1085850"/>
            <a:chOff x="0" y="0"/>
            <a:chExt cx="19678650" cy="1447800"/>
          </a:xfrm>
        </p:grpSpPr>
        <p:sp>
          <p:nvSpPr>
            <p:cNvPr name="Freeform 8" id="8" descr="A blue and white background  Description automatically generated with medium confidence"/>
            <p:cNvSpPr/>
            <p:nvPr/>
          </p:nvSpPr>
          <p:spPr>
            <a:xfrm flipH="false" flipV="false" rot="0">
              <a:off x="0" y="0"/>
              <a:ext cx="196786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678650">
                  <a:moveTo>
                    <a:pt x="0" y="0"/>
                  </a:moveTo>
                  <a:lnTo>
                    <a:pt x="19678650" y="0"/>
                  </a:lnTo>
                  <a:lnTo>
                    <a:pt x="1967865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6000"/>
              </a:blip>
              <a:stretch>
                <a:fillRect l="0" t="-374753" r="0" b="-37475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887950" y="-629"/>
            <a:ext cx="400050" cy="1098518"/>
            <a:chOff x="0" y="0"/>
            <a:chExt cx="533400" cy="14646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" cy="1464691"/>
            </a:xfrm>
            <a:custGeom>
              <a:avLst/>
              <a:gdLst/>
              <a:ahLst/>
              <a:cxnLst/>
              <a:rect r="r" b="b" t="t" l="l"/>
              <a:pathLst>
                <a:path h="1464691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1464691"/>
                  </a:lnTo>
                  <a:lnTo>
                    <a:pt x="0" y="1464691"/>
                  </a:lnTo>
                  <a:close/>
                </a:path>
              </a:pathLst>
            </a:custGeom>
            <a:solidFill>
              <a:srgbClr val="FED5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564230" y="4397607"/>
            <a:ext cx="5159531" cy="139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213163"/>
                </a:solidFill>
                <a:latin typeface="Arial Bold"/>
                <a:ea typeface="Arial Bold"/>
                <a:cs typeface="Arial Bold"/>
                <a:sym typeface="Arial Bold"/>
              </a:rPr>
              <a:t>Thank You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34365" y="5771531"/>
            <a:ext cx="12213260" cy="51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Link -https://github.com/ideshmukhom-eng/HydraAI-Smart-Irrigation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DAHAgyRx5wg</dc:identifier>
  <dcterms:modified xsi:type="dcterms:W3CDTF">2011-08-01T06:04:30Z</dcterms:modified>
  <cp:revision>1</cp:revision>
  <dc:title>78% Improvec</dc:title>
</cp:coreProperties>
</file>